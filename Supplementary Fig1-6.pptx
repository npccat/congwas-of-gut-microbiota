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4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570" y="120650"/>
            <a:ext cx="5073650" cy="59455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22250" y="1206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Suppl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4220" y="202565"/>
            <a:ext cx="4991735" cy="586359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47725" y="6066155"/>
            <a:ext cx="10622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Suppl Fig1 |</a:t>
            </a:r>
            <a:r>
              <a:rPr lang="en-US" altLang="zh-CN" dirty="0"/>
              <a:t> </a:t>
            </a:r>
            <a:r>
              <a:rPr lang="en-US" altLang="zh-CN" b="1" dirty="0">
                <a:sym typeface="+mn-ea"/>
              </a:rPr>
              <a:t>Number of new loci identified by conditional GWAS across different gut microbial phenotypes.</a:t>
            </a:r>
            <a:endParaRPr lang="en-US" alt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40970" y="97790"/>
            <a:ext cx="10515600" cy="913765"/>
          </a:xfrm>
        </p:spPr>
        <p:txBody>
          <a:bodyPr>
            <a:normAutofit/>
          </a:bodyPr>
          <a:lstStyle/>
          <a:p>
            <a:r>
              <a:rPr lang="en-US" altLang="zh-CN" sz="2400">
                <a:sym typeface="+mn-ea"/>
              </a:rPr>
              <a:t>Suppl Fig</a:t>
            </a:r>
            <a:endParaRPr lang="en-US" altLang="zh-CN" sz="2400">
              <a:solidFill>
                <a:schemeClr val="tx1"/>
              </a:solidFill>
            </a:endParaRPr>
          </a:p>
          <a:p>
            <a:endParaRPr lang="zh-CN" altLang="en-US" sz="2800">
              <a:solidFill>
                <a:schemeClr val="tx1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645" y="156210"/>
            <a:ext cx="3152140" cy="2794635"/>
          </a:xfrm>
          <a:prstGeom prst="rect">
            <a:avLst/>
          </a:prstGeom>
        </p:spPr>
      </p:pic>
      <p:pic>
        <p:nvPicPr>
          <p:cNvPr id="3" name="图片 2" descr="cor_locinu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605" y="3818890"/>
            <a:ext cx="3343910" cy="278701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538605" y="3037840"/>
            <a:ext cx="37465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/>
              <a:t>Fig2 |</a:t>
            </a:r>
            <a:r>
              <a:rPr lang="en-US" altLang="zh-CN" sz="1600"/>
              <a:t> </a:t>
            </a:r>
            <a:r>
              <a:rPr lang="en-US" altLang="zh-CN" sz="1600" b="1"/>
              <a:t>Distribution of P-gain of significant SNPs in new loci.</a:t>
            </a:r>
            <a:r>
              <a:rPr lang="en-US" altLang="zh-CN" sz="1600"/>
              <a:t> </a:t>
            </a:r>
            <a:endParaRPr lang="en-US" altLang="zh-CN" sz="1600"/>
          </a:p>
        </p:txBody>
      </p:sp>
      <p:sp>
        <p:nvSpPr>
          <p:cNvPr id="7" name="文本框 6"/>
          <p:cNvSpPr txBox="1"/>
          <p:nvPr/>
        </p:nvSpPr>
        <p:spPr>
          <a:xfrm>
            <a:off x="5086350" y="5614670"/>
            <a:ext cx="57448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Fig3 |</a:t>
            </a:r>
            <a:r>
              <a:rPr lang="en-US" altLang="zh-CN" sz="1600" dirty="0"/>
              <a:t> </a:t>
            </a:r>
            <a:r>
              <a:rPr lang="en-US" altLang="zh-CN" sz="1600" b="1" dirty="0" err="1"/>
              <a:t>Realtionship</a:t>
            </a:r>
            <a:r>
              <a:rPr lang="en-US" altLang="zh-CN" sz="1600" b="1" dirty="0"/>
              <a:t> between the phenotypic correlations and the number of new loci of each </a:t>
            </a:r>
            <a:r>
              <a:rPr lang="en-US" altLang="zh-CN" sz="1600" b="1" dirty="0">
                <a:sym typeface="+mn-ea"/>
              </a:rPr>
              <a:t>bacteria</a:t>
            </a:r>
            <a:r>
              <a:rPr lang="zh-CN" altLang="en-US" sz="1600" b="1" dirty="0">
                <a:sym typeface="+mn-ea"/>
              </a:rPr>
              <a:t> </a:t>
            </a:r>
            <a:r>
              <a:rPr lang="en-US" altLang="zh-CN" sz="1600" b="1" dirty="0"/>
              <a:t>pairs.</a:t>
            </a:r>
            <a:endParaRPr lang="en-US" altLang="zh-CN" sz="1600" b="1" strike="sngStrike" dirty="0"/>
          </a:p>
        </p:txBody>
      </p:sp>
    </p:spTree>
    <p:custDataLst>
      <p:tags r:id="rId4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40970" y="97790"/>
            <a:ext cx="10515600" cy="913765"/>
          </a:xfrm>
        </p:spPr>
        <p:txBody>
          <a:bodyPr>
            <a:normAutofit/>
          </a:bodyPr>
          <a:lstStyle/>
          <a:p>
            <a:r>
              <a:rPr lang="en-US" altLang="zh-CN" sz="2400">
                <a:sym typeface="+mn-ea"/>
              </a:rPr>
              <a:t>Suppl Fig</a:t>
            </a:r>
            <a:endParaRPr lang="en-US" altLang="zh-CN" sz="2400">
              <a:solidFill>
                <a:schemeClr val="tx1"/>
              </a:solidFill>
            </a:endParaRPr>
          </a:p>
          <a:p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270500" y="1830070"/>
            <a:ext cx="551370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Fig5 |</a:t>
            </a:r>
            <a:r>
              <a:rPr lang="en-US" altLang="zh-CN" sz="1600" dirty="0"/>
              <a:t> </a:t>
            </a:r>
            <a:r>
              <a:rPr lang="en-US" altLang="zh-CN" sz="1600" b="1" dirty="0" err="1"/>
              <a:t>Realtionship</a:t>
            </a:r>
            <a:r>
              <a:rPr lang="en-US" altLang="zh-CN" sz="1600" b="1" dirty="0"/>
              <a:t> between the K2P distance and taxonomic relatedness. </a:t>
            </a:r>
            <a:r>
              <a:rPr lang="en-US" altLang="zh-CN" sz="1600" dirty="0"/>
              <a:t>Larger values on the x-axis indicate closer taxonomic relationships (e.g., a value of 5 denotes that two phenotypes belong to the same family).</a:t>
            </a:r>
            <a:endParaRPr lang="en-US" altLang="zh-CN" sz="1600" dirty="0"/>
          </a:p>
        </p:txBody>
      </p:sp>
      <p:sp>
        <p:nvSpPr>
          <p:cNvPr id="9" name="文本框 8"/>
          <p:cNvSpPr txBox="1"/>
          <p:nvPr/>
        </p:nvSpPr>
        <p:spPr>
          <a:xfrm>
            <a:off x="5270500" y="4937760"/>
            <a:ext cx="604456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Fig4 |</a:t>
            </a:r>
            <a:r>
              <a:rPr lang="en-US" altLang="zh-CN" sz="1600" dirty="0"/>
              <a:t> </a:t>
            </a:r>
            <a:r>
              <a:rPr lang="en-US" altLang="zh-CN" sz="1600" b="1" dirty="0"/>
              <a:t>Differences in absolute beta values of all significant SNP in new loci before and after conditional GWAS. </a:t>
            </a:r>
            <a:r>
              <a:rPr lang="en-US" altLang="zh-CN" sz="1600" dirty="0"/>
              <a:t>ConGWAS: </a:t>
            </a:r>
            <a:r>
              <a:rPr lang="en-US" altLang="zh-CN" sz="1600" dirty="0">
                <a:sym typeface="+mn-ea"/>
              </a:rPr>
              <a:t>absolute beta values after conditional GWAS;</a:t>
            </a:r>
            <a:r>
              <a:rPr lang="en-US" altLang="zh-CN" sz="1600" b="1" dirty="0">
                <a:sym typeface="+mn-ea"/>
              </a:rPr>
              <a:t> </a:t>
            </a:r>
            <a:r>
              <a:rPr lang="en-US" altLang="zh-CN" sz="1600" dirty="0"/>
              <a:t>Y</a:t>
            </a:r>
            <a:r>
              <a:rPr lang="zh-CN" altLang="en-US" sz="1600" dirty="0"/>
              <a:t> </a:t>
            </a:r>
            <a:r>
              <a:rPr lang="en-US" altLang="zh-CN" sz="1600" dirty="0"/>
              <a:t>Trait: </a:t>
            </a:r>
            <a:r>
              <a:rPr lang="en-US" altLang="zh-CN" sz="1600" dirty="0">
                <a:sym typeface="+mn-ea"/>
              </a:rPr>
              <a:t>absolute beta values in traditional GWAS of </a:t>
            </a:r>
            <a:r>
              <a:rPr lang="en-US" altLang="zh-CN" sz="1600" dirty="0">
                <a:sym typeface="+mn-ea"/>
              </a:rPr>
              <a:t>dependent phenotypes; Z</a:t>
            </a:r>
            <a:r>
              <a:rPr lang="zh-CN" altLang="en-US" sz="1600" dirty="0">
                <a:sym typeface="+mn-ea"/>
              </a:rPr>
              <a:t> </a:t>
            </a:r>
            <a:r>
              <a:rPr lang="en-US" altLang="zh-CN" sz="1600" dirty="0">
                <a:sym typeface="+mn-ea"/>
              </a:rPr>
              <a:t>Trait: </a:t>
            </a:r>
            <a:r>
              <a:rPr lang="en-US" altLang="zh-CN" sz="1600" dirty="0">
                <a:sym typeface="+mn-ea"/>
              </a:rPr>
              <a:t>absolute beta values in traditional GWAS of </a:t>
            </a:r>
            <a:r>
              <a:rPr lang="en-US" altLang="zh-CN" sz="1600" dirty="0">
                <a:sym typeface="+mn-ea"/>
              </a:rPr>
              <a:t>covariate phenotypes; </a:t>
            </a:r>
            <a:endParaRPr lang="zh-CN" altLang="en-US" sz="1600" dirty="0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380" y="329565"/>
            <a:ext cx="3424555" cy="3099435"/>
          </a:xfrm>
          <a:prstGeom prst="rect">
            <a:avLst/>
          </a:prstGeom>
        </p:spPr>
      </p:pic>
      <p:pic>
        <p:nvPicPr>
          <p:cNvPr id="1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580" y="3473450"/>
            <a:ext cx="3526790" cy="298196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40970" y="97790"/>
            <a:ext cx="10515600" cy="913765"/>
          </a:xfrm>
        </p:spPr>
        <p:txBody>
          <a:bodyPr>
            <a:normAutofit/>
          </a:bodyPr>
          <a:lstStyle/>
          <a:p>
            <a:r>
              <a:rPr lang="en-US" altLang="zh-CN" sz="2400">
                <a:sym typeface="+mn-ea"/>
              </a:rPr>
              <a:t>Suppl Fig</a:t>
            </a:r>
            <a:endParaRPr lang="en-US" altLang="zh-CN" sz="2400">
              <a:solidFill>
                <a:schemeClr val="tx1"/>
              </a:solidFill>
            </a:endParaRPr>
          </a:p>
          <a:p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89000" y="5669280"/>
            <a:ext cx="98717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ym typeface="+mn-ea"/>
              </a:rPr>
              <a:t>Fig. 6 | QQ plots of Mendelian randomization (MR) results of </a:t>
            </a:r>
            <a:r>
              <a:rPr lang="en-US" altLang="zh-CN" sz="1600" b="1" dirty="0">
                <a:sym typeface="+mn-ea"/>
              </a:rPr>
              <a:t>Medical conditions (self reported)</a:t>
            </a:r>
            <a:r>
              <a:rPr lang="en-US" sz="1600" b="1" dirty="0">
                <a:sym typeface="+mn-ea"/>
              </a:rPr>
              <a:t>.</a:t>
            </a:r>
            <a:br>
              <a:rPr lang="en-US" sz="1600" dirty="0">
                <a:sym typeface="+mn-ea"/>
              </a:rPr>
            </a:br>
            <a:r>
              <a:rPr lang="en-US" sz="1600" dirty="0">
                <a:sym typeface="+mn-ea"/>
              </a:rPr>
              <a:t>Left </a:t>
            </a:r>
            <a:r>
              <a:rPr lang="en-US" sz="1600" dirty="0">
                <a:sym typeface="+mn-ea"/>
              </a:rPr>
              <a:t>panel </a:t>
            </a:r>
            <a:r>
              <a:rPr lang="en-US" sz="1600" dirty="0">
                <a:sym typeface="+mn-ea"/>
              </a:rPr>
              <a:t>show QQ plot of P-values from forward MR analyses, right </a:t>
            </a:r>
            <a:r>
              <a:rPr lang="en-US" sz="1600" dirty="0">
                <a:sym typeface="+mn-ea"/>
              </a:rPr>
              <a:t>panel show</a:t>
            </a:r>
            <a:r>
              <a:rPr lang="en-US" sz="1600" dirty="0">
                <a:sym typeface="+mn-ea"/>
              </a:rPr>
              <a:t> QQ plot of P-values from reverse MR analyses.</a:t>
            </a:r>
            <a:endParaRPr lang="zh-CN" altLang="en-US" sz="1600" dirty="0">
              <a:sym typeface="+mn-ea"/>
            </a:endParaRPr>
          </a:p>
        </p:txBody>
      </p:sp>
      <p:pic>
        <p:nvPicPr>
          <p:cNvPr id="4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265" y="1228725"/>
            <a:ext cx="4575175" cy="431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5440" y="1227455"/>
            <a:ext cx="4484370" cy="431609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TEMPLATE_CATEGORY" val="preset"/>
  <p:tag name="KSO_WM_TEMPLATE_INDEX" val="11"/>
  <p:tag name="KSO_WM_UNIT_TYPE" val="a"/>
  <p:tag name="KSO_WM_UNIT_INDEX" val="1"/>
  <p:tag name="KSO_WM_UNIT_ID" val="259*a*1"/>
  <p:tag name="KSO_WM_UNIT_CLEAR" val="1"/>
  <p:tag name="KSO_WM_UNIT_LAYERLEVEL" val="1"/>
  <p:tag name="KSO_WM_UNIT_VALUE" val="40"/>
  <p:tag name="KSO_WM_UNIT_ISCONTENTSTITLE" val="0"/>
  <p:tag name="KSO_WM_UNIT_HIGHLIGHT" val="0"/>
  <p:tag name="KSO_WM_UNIT_COMPATIBLE" val="0"/>
  <p:tag name="KSO_WM_UNIT_PRESET_TEXT" val="请在此处添加标题"/>
  <p:tag name="KSO_WM_BEAUTIFY_FLAG" val="#wm#"/>
  <p:tag name="KSO_WM_TAG_VERSION" val="1.0"/>
</p:tagLst>
</file>

<file path=ppt/tags/tag2.xml><?xml version="1.0" encoding="utf-8"?>
<p:tagLst xmlns:p="http://schemas.openxmlformats.org/presentationml/2006/main">
  <p:tag name="KSO_WM_TEMPLATE_CATEGORY" val="preset"/>
  <p:tag name="KSO_WM_TEMPLATE_INDEX" val="11"/>
  <p:tag name="KSO_WM_TAG_VERSION" val="1.0"/>
  <p:tag name="KSO_WM_SLIDE_ID" val="preset11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66*144"/>
  <p:tag name="KSO_WM_SLIDE_SIZE" val="828*343"/>
</p:tagLst>
</file>

<file path=ppt/tags/tag3.xml><?xml version="1.0" encoding="utf-8"?>
<p:tagLst xmlns:p="http://schemas.openxmlformats.org/presentationml/2006/main">
  <p:tag name="KSO_WM_TEMPLATE_CATEGORY" val="preset"/>
  <p:tag name="KSO_WM_TEMPLATE_INDEX" val="11"/>
  <p:tag name="KSO_WM_UNIT_TYPE" val="a"/>
  <p:tag name="KSO_WM_UNIT_INDEX" val="1"/>
  <p:tag name="KSO_WM_UNIT_ID" val="259*a*1"/>
  <p:tag name="KSO_WM_UNIT_CLEAR" val="1"/>
  <p:tag name="KSO_WM_UNIT_LAYERLEVEL" val="1"/>
  <p:tag name="KSO_WM_UNIT_VALUE" val="40"/>
  <p:tag name="KSO_WM_UNIT_ISCONTENTSTITLE" val="0"/>
  <p:tag name="KSO_WM_UNIT_HIGHLIGHT" val="0"/>
  <p:tag name="KSO_WM_UNIT_COMPATIBLE" val="0"/>
  <p:tag name="KSO_WM_UNIT_PRESET_TEXT" val="请在此处添加标题"/>
  <p:tag name="KSO_WM_BEAUTIFY_FLAG" val="#wm#"/>
  <p:tag name="KSO_WM_TAG_VERSION" val="1.0"/>
</p:tagLst>
</file>

<file path=ppt/tags/tag4.xml><?xml version="1.0" encoding="utf-8"?>
<p:tagLst xmlns:p="http://schemas.openxmlformats.org/presentationml/2006/main">
  <p:tag name="KSO_WM_TEMPLATE_CATEGORY" val="preset"/>
  <p:tag name="KSO_WM_TEMPLATE_INDEX" val="11"/>
  <p:tag name="KSO_WM_TAG_VERSION" val="1.0"/>
  <p:tag name="KSO_WM_SLIDE_ID" val="preset11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66*144"/>
  <p:tag name="KSO_WM_SLIDE_SIZE" val="828*343"/>
</p:tagLst>
</file>

<file path=ppt/tags/tag5.xml><?xml version="1.0" encoding="utf-8"?>
<p:tagLst xmlns:p="http://schemas.openxmlformats.org/presentationml/2006/main">
  <p:tag name="KSO_WM_TEMPLATE_CATEGORY" val="preset"/>
  <p:tag name="KSO_WM_TEMPLATE_INDEX" val="11"/>
  <p:tag name="KSO_WM_UNIT_TYPE" val="a"/>
  <p:tag name="KSO_WM_UNIT_INDEX" val="1"/>
  <p:tag name="KSO_WM_UNIT_ID" val="259*a*1"/>
  <p:tag name="KSO_WM_UNIT_CLEAR" val="1"/>
  <p:tag name="KSO_WM_UNIT_LAYERLEVEL" val="1"/>
  <p:tag name="KSO_WM_UNIT_VALUE" val="40"/>
  <p:tag name="KSO_WM_UNIT_ISCONTENTSTITLE" val="0"/>
  <p:tag name="KSO_WM_UNIT_HIGHLIGHT" val="0"/>
  <p:tag name="KSO_WM_UNIT_COMPATIBLE" val="0"/>
  <p:tag name="KSO_WM_UNIT_PRESET_TEXT" val="请在此处添加标题"/>
  <p:tag name="KSO_WM_BEAUTIFY_FLAG" val="#wm#"/>
  <p:tag name="KSO_WM_TAG_VERSION" val="1.0"/>
</p:tagLst>
</file>

<file path=ppt/tags/tag6.xml><?xml version="1.0" encoding="utf-8"?>
<p:tagLst xmlns:p="http://schemas.openxmlformats.org/presentationml/2006/main">
  <p:tag name="KSO_WM_TEMPLATE_CATEGORY" val="preset"/>
  <p:tag name="KSO_WM_TEMPLATE_INDEX" val="11"/>
  <p:tag name="KSO_WM_TAG_VERSION" val="1.0"/>
  <p:tag name="KSO_WM_SLIDE_ID" val="preset11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66*144"/>
  <p:tag name="KSO_WM_SLIDE_SIZE" val="828*343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1059</Words>
  <Application>WPS 演示</Application>
  <PresentationFormat>宽屏</PresentationFormat>
  <Paragraphs>23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Suppl Fig</vt:lpstr>
      <vt:lpstr>Suppl Fig</vt:lpstr>
      <vt:lpstr>Suppl Fig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月芽兔</dc:creator>
  <cp:lastModifiedBy>喵星</cp:lastModifiedBy>
  <cp:revision>3</cp:revision>
  <dcterms:created xsi:type="dcterms:W3CDTF">2023-08-09T12:44:00Z</dcterms:created>
  <dcterms:modified xsi:type="dcterms:W3CDTF">2026-05-19T01:27:03Z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2052-12.1.0.22215</vt:lpwstr>
  </property>
  <property fmtid="{D5CDD505-2E9C-101B-9397-08002B2CF9AE}" pid="3" name="ICV">
    <vt:lpwstr>122C28AFF8704EEF818095B5ACB6B373_12</vt:lpwstr>
  </property>
</Properties>
</file>